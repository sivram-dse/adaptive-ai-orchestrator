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58FF9-7D18-C19B-FC56-34F28E236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03A21-4D9E-BD9A-1774-8DDE960EA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623E3-7A85-3757-4D7B-E75C57D96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21EAF-49E7-A898-86EE-D5CE0C9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A4E04-2769-C263-C5BE-216002C2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9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BFDB-1C63-A33E-8080-C64A21072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37576-4549-CE22-FD78-76890040E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67E96-0730-2B43-8B3D-66BA264FD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D7EF0-DC1A-2997-BC68-DD912979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DEC7D-2ECE-726A-EEBD-0FD45F41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88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E98E5-4E16-5862-2621-04BAACA0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66A5D-AF0B-067A-FAAA-17B63BD81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25A2E-34F8-0CD1-45AF-DA579352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CD558-94D2-6D19-6F1E-48AA4F15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9B393-3F65-2E2F-368D-8C66AF78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95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33EF-9207-E243-F416-063A3FB04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57275-0678-1BCD-0B1B-1F3B03F00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E516D-AB02-E7AE-61FB-47F192222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D9DCE-0C47-8CE5-1E5D-AE5B85BB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78991-E727-2D2F-3E77-2D637922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A95C9-4F08-809B-BE35-422B898FB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3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F07AF-4F46-38B4-BCB1-5BC7D1A56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3E0CB-D704-16F2-CCEC-3166A8D4E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10D0D-B11F-ABD1-177B-B1CDAAFE0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3A8315-7D96-3F0E-368D-7589D9238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5951A-33A4-BC7F-2822-040F41D40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9ECB6-197D-040F-04DA-111C17F9D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3836C-7905-75EC-2483-B6C84A3CB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A66BE-60E1-B39E-9D6B-FDE6F84D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526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57D3-A2E7-4C01-52A5-A85E65BD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E85BBB-4F6E-F10D-0853-1FB08035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6D61F-6191-0D3C-AA76-A8485DB9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B0C31-7976-4AC8-4CEF-C673EBD6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46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042C71-21D3-A7FB-4CF3-0B0EC745B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46F86-DB34-833F-CE4D-A53F35A5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7015F-CE29-BAEB-AA97-55992DB8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45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0622-5A67-AD7E-0123-4179A13E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BF691-FF49-5AFC-C4E9-F872CD11E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84AA6-2610-282F-5E08-301AF3777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2B172-78F3-AB40-445D-5445331AC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16D22-6518-580E-5DA0-F3046BF65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97313-0B09-1490-B86B-8838250D0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81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27C4-7FC2-1FD1-7436-4279A2F56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25F06-AE1E-E505-06FA-1F09BB202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EA05E-CE0E-9782-19B7-D67A79899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047D8-ADA8-E8B5-36FA-2F3B9827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EA661-46DA-E6E6-307C-8ADA233F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3E873-1608-8878-5C2E-4619D50C7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048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9F6D-29C0-0FDE-DC3A-4E70DA9D2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0B508-2EC4-526F-7C59-649B485D1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62513-6A65-64B3-78A1-59A8BE51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F4153-2434-D60D-A03E-97C33DED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92104-98E4-5CB0-4743-8A9D543C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350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87316-B9DA-C418-FEE4-1DB076382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E7628-8293-75D1-77E3-AB88DB156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5583F-44AD-6281-7D6E-A738FE29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3304F-331C-4A18-CBBA-407499EE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7D968-170A-6BBB-DA43-609081E9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78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5988A5-FBCF-145B-367E-CA2905E9C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23F48-EEEC-0997-6610-DD0B26E78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71A13-84CA-C8DA-634A-A72E1E921C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DF744-AA6C-4520-8AE5-354A896E97B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C4A46-F67B-7F15-A40E-E44148227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EDB83-F67B-FC67-4CA6-6E02BF1B3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EEB3B-3349-4428-BE34-09F8ADA140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6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8AECA-84B6-5844-8C7E-6A13F3012B3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736600"/>
            <a:ext cx="6350000" cy="35814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E61C6C-E406-FD9F-E9D5-FDF50F79A22B}"/>
              </a:ext>
            </a:extLst>
          </p:cNvPr>
          <p:cNvSpPr/>
          <p:nvPr/>
        </p:nvSpPr>
        <p:spPr>
          <a:xfrm>
            <a:off x="457200" y="736600"/>
            <a:ext cx="4318000" cy="49022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3B5D29-D97E-C68F-6EDB-83A08A613066}"/>
              </a:ext>
            </a:extLst>
          </p:cNvPr>
          <p:cNvSpPr txBox="1"/>
          <p:nvPr/>
        </p:nvSpPr>
        <p:spPr>
          <a:xfrm>
            <a:off x="685800" y="965200"/>
            <a:ext cx="3810000" cy="1046440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900" b="1">
                <a:solidFill>
                  <a:srgbClr val="F8FAFC"/>
                </a:solidFill>
                <a:latin typeface="Aptos" panose="020B0004020202020204" pitchFamily="34" charset="0"/>
              </a:rPr>
              <a:t>Adaptive AI Orchestrator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D8733-D774-DD10-F2C2-CA6E0EF4EECD}"/>
              </a:ext>
            </a:extLst>
          </p:cNvPr>
          <p:cNvSpPr txBox="1"/>
          <p:nvPr/>
        </p:nvSpPr>
        <p:spPr>
          <a:xfrm>
            <a:off x="685800" y="1905000"/>
            <a:ext cx="3810000" cy="7078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>
                <a:solidFill>
                  <a:srgbClr val="22D3EE"/>
                </a:solidFill>
                <a:latin typeface="Aptos" panose="020B0004020202020204" pitchFamily="34" charset="0"/>
              </a:rPr>
              <a:t>A runtime control layer for enterprise AI.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B7D08-D541-5A02-16DF-6FCE064CD0F4}"/>
              </a:ext>
            </a:extLst>
          </p:cNvPr>
          <p:cNvSpPr txBox="1"/>
          <p:nvPr/>
        </p:nvSpPr>
        <p:spPr>
          <a:xfrm>
            <a:off x="685800" y="3175000"/>
            <a:ext cx="3810000" cy="8463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Aptos" panose="020B0004020202020204" pitchFamily="34" charset="0"/>
              </a:rPr>
              <a:t>Routes each request to the lowest-cost execution path that still satisfies quality, latency, and confidence requirements.</a:t>
            </a:r>
            <a:endParaRPr lang="en-IN" sz="15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B6E281-8A6D-6B07-9C9F-588D924534D0}"/>
              </a:ext>
            </a:extLst>
          </p:cNvPr>
          <p:cNvSpPr/>
          <p:nvPr/>
        </p:nvSpPr>
        <p:spPr>
          <a:xfrm>
            <a:off x="5334000" y="4851400"/>
            <a:ext cx="6350000" cy="7620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AA101A-B0C8-0E5B-0424-53DF1EE89439}"/>
              </a:ext>
            </a:extLst>
          </p:cNvPr>
          <p:cNvSpPr txBox="1"/>
          <p:nvPr/>
        </p:nvSpPr>
        <p:spPr>
          <a:xfrm>
            <a:off x="5562600" y="5054600"/>
            <a:ext cx="5892800" cy="338554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200">
                <a:solidFill>
                  <a:srgbClr val="22D3EE"/>
                </a:solidFill>
                <a:latin typeface="Aptos" panose="020B0004020202020204" pitchFamily="34" charset="0"/>
              </a:rPr>
              <a:t>Project overview for hackathon evaluation</a:t>
            </a:r>
            <a:endParaRPr lang="en-IN" sz="12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overview-slide-1">
            <a:hlinkClick r:id="" action="ppaction://media"/>
            <a:extLst>
              <a:ext uri="{FF2B5EF4-FFF2-40B4-BE49-F238E27FC236}">
                <a16:creationId xmlns:a16="http://schemas.microsoft.com/office/drawing/2014/main" id="{79582F24-17D3-1491-E842-03210D9829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86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0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000"/>
    </mc:Choice>
    <mc:Fallback>
      <p:transition spd="slow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99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F3974A-4F27-30BB-124D-D04ED6BA654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736600"/>
            <a:ext cx="6350000" cy="35814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863C30-4818-2891-1BE2-12D7662ECACE}"/>
              </a:ext>
            </a:extLst>
          </p:cNvPr>
          <p:cNvSpPr/>
          <p:nvPr/>
        </p:nvSpPr>
        <p:spPr>
          <a:xfrm>
            <a:off x="457200" y="736600"/>
            <a:ext cx="4318000" cy="49022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D9770-6544-423F-F1B2-6E44E0C2F8B4}"/>
              </a:ext>
            </a:extLst>
          </p:cNvPr>
          <p:cNvSpPr txBox="1"/>
          <p:nvPr/>
        </p:nvSpPr>
        <p:spPr>
          <a:xfrm>
            <a:off x="685800" y="965200"/>
            <a:ext cx="3810000" cy="600164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900" b="1">
                <a:solidFill>
                  <a:srgbClr val="F8FAFC"/>
                </a:solidFill>
                <a:latin typeface="Aptos" panose="020B0004020202020204" pitchFamily="34" charset="0"/>
              </a:rPr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93FCD-8C49-B919-825E-3AE2FD46483F}"/>
              </a:ext>
            </a:extLst>
          </p:cNvPr>
          <p:cNvSpPr txBox="1"/>
          <p:nvPr/>
        </p:nvSpPr>
        <p:spPr>
          <a:xfrm>
            <a:off x="685800" y="1905000"/>
            <a:ext cx="3810000" cy="7078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>
                <a:solidFill>
                  <a:srgbClr val="22D3EE"/>
                </a:solidFill>
                <a:latin typeface="Aptos" panose="020B0004020202020204" pitchFamily="34" charset="0"/>
              </a:rPr>
              <a:t>Enterprise AI often overuses costly execution paths.</a:t>
            </a:r>
            <a:endParaRPr lang="en-IN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CB157-81CB-F433-383C-C45C318C4AD5}"/>
              </a:ext>
            </a:extLst>
          </p:cNvPr>
          <p:cNvSpPr txBox="1"/>
          <p:nvPr/>
        </p:nvSpPr>
        <p:spPr>
          <a:xfrm>
            <a:off x="685800" y="3175000"/>
            <a:ext cx="3810000" cy="1077218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Aptos" panose="020B0004020202020204" pitchFamily="34" charset="0"/>
              </a:rPr>
              <a:t>Simple tasks do not always need large models or agents. Without routing, teams absorb avoidable cost, latency, and governance risk.</a:t>
            </a:r>
            <a:endParaRPr lang="en-IN" sz="15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6BDFD8-44F5-3889-D914-1FFB45DBDFBE}"/>
              </a:ext>
            </a:extLst>
          </p:cNvPr>
          <p:cNvSpPr/>
          <p:nvPr/>
        </p:nvSpPr>
        <p:spPr>
          <a:xfrm>
            <a:off x="5334000" y="4851400"/>
            <a:ext cx="6350000" cy="7620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C034C-E965-79D2-1BCC-1E0BE37F78BF}"/>
              </a:ext>
            </a:extLst>
          </p:cNvPr>
          <p:cNvSpPr txBox="1"/>
          <p:nvPr/>
        </p:nvSpPr>
        <p:spPr>
          <a:xfrm>
            <a:off x="5562600" y="5054600"/>
            <a:ext cx="5892800" cy="338554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200">
                <a:solidFill>
                  <a:srgbClr val="22D3EE"/>
                </a:solidFill>
                <a:latin typeface="Aptos" panose="020B0004020202020204" pitchFamily="34" charset="0"/>
              </a:rPr>
              <a:t>Goal: control cost without blindly reducing quality</a:t>
            </a:r>
            <a:endParaRPr lang="en-IN" sz="12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overview-slide-2">
            <a:hlinkClick r:id="" action="ppaction://media"/>
            <a:extLst>
              <a:ext uri="{FF2B5EF4-FFF2-40B4-BE49-F238E27FC236}">
                <a16:creationId xmlns:a16="http://schemas.microsoft.com/office/drawing/2014/main" id="{BCD029E3-A6F7-8B81-03EC-EAE208C4E3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86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50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000"/>
    </mc:Choice>
    <mc:Fallback>
      <p:transition spd="slow" advTm="2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88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95FE90-C99B-77B0-3E1E-4D5AEED2EB0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736600"/>
            <a:ext cx="6350000" cy="35814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477740-17CF-1273-90E9-C84F88EF9D37}"/>
              </a:ext>
            </a:extLst>
          </p:cNvPr>
          <p:cNvSpPr/>
          <p:nvPr/>
        </p:nvSpPr>
        <p:spPr>
          <a:xfrm>
            <a:off x="457200" y="736600"/>
            <a:ext cx="4318000" cy="49022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636DC-7C69-E095-D715-F2D2D2E5AC9C}"/>
              </a:ext>
            </a:extLst>
          </p:cNvPr>
          <p:cNvSpPr txBox="1"/>
          <p:nvPr/>
        </p:nvSpPr>
        <p:spPr>
          <a:xfrm>
            <a:off x="685800" y="965200"/>
            <a:ext cx="3810000" cy="600164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900" b="1">
                <a:solidFill>
                  <a:srgbClr val="F8FAFC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246C05-F212-98AF-86CC-F2E3E886EDD4}"/>
              </a:ext>
            </a:extLst>
          </p:cNvPr>
          <p:cNvSpPr txBox="1"/>
          <p:nvPr/>
        </p:nvSpPr>
        <p:spPr>
          <a:xfrm>
            <a:off x="685800" y="1905000"/>
            <a:ext cx="3810000" cy="7078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>
                <a:solidFill>
                  <a:srgbClr val="22D3EE"/>
                </a:solidFill>
                <a:latin typeface="Aptos" panose="020B0004020202020204" pitchFamily="34" charset="0"/>
              </a:rPr>
              <a:t>The decision engine scores each path at runtime.</a:t>
            </a:r>
            <a:endParaRPr lang="en-IN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D1975-827C-E5E0-4FB9-BF43B9004FF5}"/>
              </a:ext>
            </a:extLst>
          </p:cNvPr>
          <p:cNvSpPr txBox="1"/>
          <p:nvPr/>
        </p:nvSpPr>
        <p:spPr>
          <a:xfrm>
            <a:off x="685800" y="3175000"/>
            <a:ext cx="3810000" cy="1077218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Aptos" panose="020B0004020202020204" pitchFamily="34" charset="0"/>
              </a:rPr>
              <a:t>It considers complexity, policy, cost, latency, confidence, and historical outcome signals before selecting Code, Skill, LLM, Agent, or Multi-Agent Workflow.</a:t>
            </a:r>
            <a:endParaRPr lang="en-IN" sz="15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20766C-2F72-9FA9-0B27-6C9D52CCAF5B}"/>
              </a:ext>
            </a:extLst>
          </p:cNvPr>
          <p:cNvSpPr/>
          <p:nvPr/>
        </p:nvSpPr>
        <p:spPr>
          <a:xfrm>
            <a:off x="5334000" y="4851400"/>
            <a:ext cx="6350000" cy="7620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62D313-4359-D0B3-D5C0-2B9553B65341}"/>
              </a:ext>
            </a:extLst>
          </p:cNvPr>
          <p:cNvSpPr txBox="1"/>
          <p:nvPr/>
        </p:nvSpPr>
        <p:spPr>
          <a:xfrm>
            <a:off x="5562600" y="5054600"/>
            <a:ext cx="5892800" cy="523220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200">
                <a:solidFill>
                  <a:srgbClr val="22D3EE"/>
                </a:solidFill>
                <a:latin typeface="Aptos" panose="020B0004020202020204" pitchFamily="34" charset="0"/>
              </a:rPr>
              <a:t>Every response includes route, rationale, cost, latency, confidence, and evaluated alternatives</a:t>
            </a:r>
            <a:endParaRPr lang="en-IN" sz="12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overview-slide-3">
            <a:hlinkClick r:id="" action="ppaction://media"/>
            <a:extLst>
              <a:ext uri="{FF2B5EF4-FFF2-40B4-BE49-F238E27FC236}">
                <a16:creationId xmlns:a16="http://schemas.microsoft.com/office/drawing/2014/main" id="{6E30DB0D-F65A-10A6-078D-7E0D34D4E6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86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879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000"/>
    </mc:Choice>
    <mc:Fallback>
      <p:transition spd="slow" advTm="2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1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DBAA84-86C6-8FAE-CD19-982B98D0201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736600"/>
            <a:ext cx="5969000" cy="33528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6FDC72-B49F-88EA-3583-8472B1064446}"/>
              </a:ext>
            </a:extLst>
          </p:cNvPr>
          <p:cNvSpPr/>
          <p:nvPr/>
        </p:nvSpPr>
        <p:spPr>
          <a:xfrm>
            <a:off x="457200" y="609600"/>
            <a:ext cx="4572000" cy="53594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B5BFD-7C28-8FAF-005D-64F9AAFA1D1D}"/>
              </a:ext>
            </a:extLst>
          </p:cNvPr>
          <p:cNvSpPr txBox="1"/>
          <p:nvPr/>
        </p:nvSpPr>
        <p:spPr>
          <a:xfrm>
            <a:off x="685800" y="812800"/>
            <a:ext cx="4064000" cy="600164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900" b="1">
                <a:solidFill>
                  <a:srgbClr val="F8FAFC"/>
                </a:solidFill>
                <a:latin typeface="Aptos" panose="020B0004020202020204" pitchFamily="34" charset="0"/>
              </a:rPr>
              <a:t>Business impact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53101-9A84-B9F2-C068-3D203359CF0A}"/>
              </a:ext>
            </a:extLst>
          </p:cNvPr>
          <p:cNvSpPr txBox="1"/>
          <p:nvPr/>
        </p:nvSpPr>
        <p:spPr>
          <a:xfrm>
            <a:off x="685800" y="1714500"/>
            <a:ext cx="4064000" cy="7078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>
                <a:solidFill>
                  <a:srgbClr val="22D3EE"/>
                </a:solidFill>
                <a:latin typeface="Aptos" panose="020B0004020202020204" pitchFamily="34" charset="0"/>
              </a:rPr>
              <a:t>Measured savings from repeated demo trials.</a:t>
            </a:r>
            <a:endParaRPr lang="en-IN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192C15-3F81-A3B7-F31F-22094F21801E}"/>
              </a:ext>
            </a:extLst>
          </p:cNvPr>
          <p:cNvSpPr txBox="1"/>
          <p:nvPr/>
        </p:nvSpPr>
        <p:spPr>
          <a:xfrm>
            <a:off x="685800" y="4673600"/>
            <a:ext cx="4089400" cy="892552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200">
                <a:solidFill>
                  <a:srgbClr val="CBD5E1"/>
                </a:solidFill>
                <a:latin typeface="Aptos" panose="020B0004020202020204" pitchFamily="34" charset="0"/>
              </a:rPr>
              <a:t>The prototype reduced average cost from $0.1800 to $0.1164 per request, lowered average latency from 4.30 seconds to 3.22 seconds, and maintained 100 percent controlled demo success.</a:t>
            </a:r>
            <a:endParaRPr lang="en-IN" sz="12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D1D4B2-B581-F69C-728D-3902A78CF028}"/>
              </a:ext>
            </a:extLst>
          </p:cNvPr>
          <p:cNvSpPr/>
          <p:nvPr/>
        </p:nvSpPr>
        <p:spPr>
          <a:xfrm>
            <a:off x="685800" y="2590800"/>
            <a:ext cx="1905000" cy="939800"/>
          </a:xfrm>
          <a:prstGeom prst="rect">
            <a:avLst/>
          </a:prstGeom>
          <a:solidFill>
            <a:srgbClr val="0F172A">
              <a:alpha val="98000"/>
            </a:srgbClr>
          </a:solidFill>
          <a:ln w="12700" cap="flat" cmpd="sng" algn="ctr">
            <a:solidFill>
              <a:srgbClr val="1F3B5B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312BF6-4BAD-4B7C-C16E-5FA695DFCD17}"/>
              </a:ext>
            </a:extLst>
          </p:cNvPr>
          <p:cNvSpPr txBox="1"/>
          <p:nvPr/>
        </p:nvSpPr>
        <p:spPr>
          <a:xfrm>
            <a:off x="838200" y="2692400"/>
            <a:ext cx="1600200" cy="507831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300" b="1">
                <a:solidFill>
                  <a:srgbClr val="22D3EE"/>
                </a:solidFill>
                <a:latin typeface="Aptos" panose="020B0004020202020204" pitchFamily="34" charset="0"/>
              </a:rPr>
              <a:t>35.3%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5E4FD4-7A91-790F-1CB8-5D496031821F}"/>
              </a:ext>
            </a:extLst>
          </p:cNvPr>
          <p:cNvSpPr txBox="1"/>
          <p:nvPr/>
        </p:nvSpPr>
        <p:spPr>
          <a:xfrm>
            <a:off x="838200" y="3124200"/>
            <a:ext cx="1600200" cy="32316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1100">
                <a:solidFill>
                  <a:srgbClr val="CBD5E1"/>
                </a:solidFill>
                <a:latin typeface="Aptos" panose="020B0004020202020204" pitchFamily="34" charset="0"/>
              </a:rPr>
              <a:t>lower execution 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EFEF26-E1B4-DCDF-43AA-6D1C794EC0AA}"/>
              </a:ext>
            </a:extLst>
          </p:cNvPr>
          <p:cNvSpPr/>
          <p:nvPr/>
        </p:nvSpPr>
        <p:spPr>
          <a:xfrm>
            <a:off x="2819400" y="2590800"/>
            <a:ext cx="1905000" cy="939800"/>
          </a:xfrm>
          <a:prstGeom prst="rect">
            <a:avLst/>
          </a:prstGeom>
          <a:solidFill>
            <a:srgbClr val="0F172A">
              <a:alpha val="98000"/>
            </a:srgbClr>
          </a:solidFill>
          <a:ln w="12700" cap="flat" cmpd="sng" algn="ctr">
            <a:solidFill>
              <a:srgbClr val="1F3B5B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84764B-BDD8-BCD3-378F-9E490705AA54}"/>
              </a:ext>
            </a:extLst>
          </p:cNvPr>
          <p:cNvSpPr txBox="1"/>
          <p:nvPr/>
        </p:nvSpPr>
        <p:spPr>
          <a:xfrm>
            <a:off x="2971800" y="2692400"/>
            <a:ext cx="1600200" cy="507831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300" b="1">
                <a:solidFill>
                  <a:srgbClr val="22D3EE"/>
                </a:solidFill>
                <a:latin typeface="Aptos" panose="020B0004020202020204" pitchFamily="34" charset="0"/>
              </a:rPr>
              <a:t>25.1%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CEA6D6-BC88-7E76-B133-37415D740D47}"/>
              </a:ext>
            </a:extLst>
          </p:cNvPr>
          <p:cNvSpPr txBox="1"/>
          <p:nvPr/>
        </p:nvSpPr>
        <p:spPr>
          <a:xfrm>
            <a:off x="2971800" y="3124200"/>
            <a:ext cx="1600200" cy="323165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1100">
                <a:solidFill>
                  <a:srgbClr val="CBD5E1"/>
                </a:solidFill>
                <a:latin typeface="Aptos" panose="020B0004020202020204" pitchFamily="34" charset="0"/>
              </a:rPr>
              <a:t>lower latency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488E0B-0F22-405C-530B-D3C8B712469E}"/>
              </a:ext>
            </a:extLst>
          </p:cNvPr>
          <p:cNvSpPr/>
          <p:nvPr/>
        </p:nvSpPr>
        <p:spPr>
          <a:xfrm>
            <a:off x="685800" y="3556000"/>
            <a:ext cx="1905000" cy="939800"/>
          </a:xfrm>
          <a:prstGeom prst="rect">
            <a:avLst/>
          </a:prstGeom>
          <a:solidFill>
            <a:srgbClr val="0F172A">
              <a:alpha val="98000"/>
            </a:srgbClr>
          </a:solidFill>
          <a:ln w="12700" cap="flat" cmpd="sng" algn="ctr">
            <a:solidFill>
              <a:srgbClr val="1F3B5B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F866A2-2EF7-9FF9-4E05-3C292B4E6BEE}"/>
              </a:ext>
            </a:extLst>
          </p:cNvPr>
          <p:cNvSpPr txBox="1"/>
          <p:nvPr/>
        </p:nvSpPr>
        <p:spPr>
          <a:xfrm>
            <a:off x="838200" y="3657600"/>
            <a:ext cx="1600200" cy="507831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300" b="1">
                <a:solidFill>
                  <a:srgbClr val="22D3EE"/>
                </a:solidFill>
                <a:latin typeface="Aptos" panose="020B0004020202020204" pitchFamily="34" charset="0"/>
              </a:rPr>
              <a:t>100%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57FD76-2BED-039D-DF38-C87A22065D20}"/>
              </a:ext>
            </a:extLst>
          </p:cNvPr>
          <p:cNvSpPr txBox="1"/>
          <p:nvPr/>
        </p:nvSpPr>
        <p:spPr>
          <a:xfrm>
            <a:off x="838200" y="4089400"/>
            <a:ext cx="1600200" cy="492443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1100">
                <a:solidFill>
                  <a:srgbClr val="CBD5E1"/>
                </a:solidFill>
                <a:latin typeface="Aptos" panose="020B0004020202020204" pitchFamily="34" charset="0"/>
              </a:rPr>
              <a:t>controlled demo success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369AFE-DAAA-9F8C-64A7-2BA63194D39A}"/>
              </a:ext>
            </a:extLst>
          </p:cNvPr>
          <p:cNvSpPr/>
          <p:nvPr/>
        </p:nvSpPr>
        <p:spPr>
          <a:xfrm>
            <a:off x="2819400" y="3556000"/>
            <a:ext cx="1905000" cy="939800"/>
          </a:xfrm>
          <a:prstGeom prst="rect">
            <a:avLst/>
          </a:prstGeom>
          <a:solidFill>
            <a:srgbClr val="0F172A">
              <a:alpha val="98000"/>
            </a:srgbClr>
          </a:solidFill>
          <a:ln w="12700" cap="flat" cmpd="sng" algn="ctr">
            <a:solidFill>
              <a:srgbClr val="1F3B5B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A077CD-B2DA-ABC4-44E0-240DCF26C1D2}"/>
              </a:ext>
            </a:extLst>
          </p:cNvPr>
          <p:cNvSpPr txBox="1"/>
          <p:nvPr/>
        </p:nvSpPr>
        <p:spPr>
          <a:xfrm>
            <a:off x="2971800" y="3657600"/>
            <a:ext cx="1600200" cy="507831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300" b="1">
                <a:solidFill>
                  <a:srgbClr val="FACC15"/>
                </a:solidFill>
                <a:latin typeface="Aptos" panose="020B0004020202020204" pitchFamily="34" charset="0"/>
              </a:rPr>
              <a:t>$63.6K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4A3C7-A7C2-B362-8373-5E820E2BDBEF}"/>
              </a:ext>
            </a:extLst>
          </p:cNvPr>
          <p:cNvSpPr txBox="1"/>
          <p:nvPr/>
        </p:nvSpPr>
        <p:spPr>
          <a:xfrm>
            <a:off x="2971800" y="4089400"/>
            <a:ext cx="1600200" cy="492443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1100">
                <a:solidFill>
                  <a:srgbClr val="CBD5E1"/>
                </a:solidFill>
                <a:latin typeface="Aptos" panose="020B0004020202020204" pitchFamily="34" charset="0"/>
              </a:rPr>
              <a:t>projected savings / 1M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A8D544-DDDE-A3A9-E5F6-7FB98787968B}"/>
              </a:ext>
            </a:extLst>
          </p:cNvPr>
          <p:cNvSpPr/>
          <p:nvPr/>
        </p:nvSpPr>
        <p:spPr>
          <a:xfrm>
            <a:off x="5334000" y="4851400"/>
            <a:ext cx="6350000" cy="7620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F83F65-592E-87EA-F6C9-F2A35A782F43}"/>
              </a:ext>
            </a:extLst>
          </p:cNvPr>
          <p:cNvSpPr txBox="1"/>
          <p:nvPr/>
        </p:nvSpPr>
        <p:spPr>
          <a:xfrm>
            <a:off x="5562600" y="5054600"/>
            <a:ext cx="5892800" cy="523220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200">
                <a:solidFill>
                  <a:srgbClr val="22D3EE"/>
                </a:solidFill>
                <a:latin typeface="Aptos" panose="020B0004020202020204" pitchFamily="34" charset="0"/>
              </a:rPr>
              <a:t>Projected at one million similar requests: about $63.6K saved and 300 response-time hours avoided</a:t>
            </a:r>
            <a:endParaRPr lang="en-IN" sz="12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overview-slide-4">
            <a:hlinkClick r:id="" action="ppaction://media"/>
            <a:extLst>
              <a:ext uri="{FF2B5EF4-FFF2-40B4-BE49-F238E27FC236}">
                <a16:creationId xmlns:a16="http://schemas.microsoft.com/office/drawing/2014/main" id="{C4938AEC-1814-E24C-1000-CD1BF06140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86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887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000"/>
    </mc:Choice>
    <mc:Fallback>
      <p:transition spd="slow" advTm="2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97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412758-B6BB-FF9B-2F24-88A32C9AE4C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736600"/>
            <a:ext cx="6350000" cy="35814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94FE67C-A7DC-184B-9C21-E438FB002406}"/>
              </a:ext>
            </a:extLst>
          </p:cNvPr>
          <p:cNvSpPr/>
          <p:nvPr/>
        </p:nvSpPr>
        <p:spPr>
          <a:xfrm>
            <a:off x="457200" y="736600"/>
            <a:ext cx="4318000" cy="49022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135B7-3ABB-0AB0-CA76-5C09D823CBF8}"/>
              </a:ext>
            </a:extLst>
          </p:cNvPr>
          <p:cNvSpPr txBox="1"/>
          <p:nvPr/>
        </p:nvSpPr>
        <p:spPr>
          <a:xfrm>
            <a:off x="685800" y="965200"/>
            <a:ext cx="3810000" cy="600164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900" b="1">
                <a:solidFill>
                  <a:srgbClr val="F8FAFC"/>
                </a:solidFill>
                <a:latin typeface="Aptos" panose="020B0004020202020204" pitchFamily="34" charset="0"/>
              </a:rPr>
              <a:t>Built for governance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05D53-0659-C7DC-2CDD-8E3C1ED9F81A}"/>
              </a:ext>
            </a:extLst>
          </p:cNvPr>
          <p:cNvSpPr txBox="1"/>
          <p:nvPr/>
        </p:nvSpPr>
        <p:spPr>
          <a:xfrm>
            <a:off x="685800" y="1905000"/>
            <a:ext cx="3810000" cy="7078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>
                <a:solidFill>
                  <a:srgbClr val="22D3EE"/>
                </a:solidFill>
                <a:latin typeface="Aptos" panose="020B0004020202020204" pitchFamily="34" charset="0"/>
              </a:rPr>
              <a:t>Explainable routing makes AI spend auditable.</a:t>
            </a:r>
            <a:endParaRPr lang="en-IN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F36EF-E062-B28B-E034-3790FB4D4FC7}"/>
              </a:ext>
            </a:extLst>
          </p:cNvPr>
          <p:cNvSpPr txBox="1"/>
          <p:nvPr/>
        </p:nvSpPr>
        <p:spPr>
          <a:xfrm>
            <a:off x="685800" y="3175000"/>
            <a:ext cx="3810000" cy="1308050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Aptos" panose="020B0004020202020204" pitchFamily="34" charset="0"/>
              </a:rPr>
              <a:t>Platform teams can monitor route mix, business teams can review ROI, and governance teams can inspect why each workload used a cheaper or more advanced path.</a:t>
            </a:r>
            <a:endParaRPr lang="en-IN" sz="15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DCADAE-6758-53B8-B42C-EDE8818A30CF}"/>
              </a:ext>
            </a:extLst>
          </p:cNvPr>
          <p:cNvSpPr/>
          <p:nvPr/>
        </p:nvSpPr>
        <p:spPr>
          <a:xfrm>
            <a:off x="5334000" y="4851400"/>
            <a:ext cx="6350000" cy="7620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B3730-DD4A-1726-9289-2A19B5EE9BD0}"/>
              </a:ext>
            </a:extLst>
          </p:cNvPr>
          <p:cNvSpPr txBox="1"/>
          <p:nvPr/>
        </p:nvSpPr>
        <p:spPr>
          <a:xfrm>
            <a:off x="5562600" y="5054600"/>
            <a:ext cx="5892800" cy="338554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200">
                <a:solidFill>
                  <a:srgbClr val="22D3EE"/>
                </a:solidFill>
                <a:latin typeface="Aptos" panose="020B0004020202020204" pitchFamily="34" charset="0"/>
              </a:rPr>
              <a:t>Designed for platform, product, FinOps, and AI governance stakeholders</a:t>
            </a:r>
            <a:endParaRPr lang="en-IN" sz="12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overview-slide-5">
            <a:hlinkClick r:id="" action="ppaction://media"/>
            <a:extLst>
              <a:ext uri="{FF2B5EF4-FFF2-40B4-BE49-F238E27FC236}">
                <a16:creationId xmlns:a16="http://schemas.microsoft.com/office/drawing/2014/main" id="{1774CC83-4811-F496-50E8-45911EEC4C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86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4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000"/>
    </mc:Choice>
    <mc:Fallback>
      <p:transition spd="slow" advTm="2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16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6352B4-BFE6-69F7-20EA-9B539D0F632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736600"/>
            <a:ext cx="6350000" cy="3581400"/>
          </a:xfrm>
          <a:prstGeom prst="rect">
            <a:avLst/>
          </a:prstGeom>
          <a:ln w="15875">
            <a:solidFill>
              <a:srgbClr val="67E8F9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C1918E-7BF9-3947-B3EC-34958B001728}"/>
              </a:ext>
            </a:extLst>
          </p:cNvPr>
          <p:cNvSpPr/>
          <p:nvPr/>
        </p:nvSpPr>
        <p:spPr>
          <a:xfrm>
            <a:off x="457200" y="736600"/>
            <a:ext cx="4318000" cy="4902200"/>
          </a:xfrm>
          <a:prstGeom prst="rect">
            <a:avLst/>
          </a:prstGeom>
          <a:solidFill>
            <a:srgbClr val="0F172A">
              <a:alpha val="9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4FD79-862F-C987-18D5-91C2B5FA166E}"/>
              </a:ext>
            </a:extLst>
          </p:cNvPr>
          <p:cNvSpPr txBox="1"/>
          <p:nvPr/>
        </p:nvSpPr>
        <p:spPr>
          <a:xfrm>
            <a:off x="685800" y="965200"/>
            <a:ext cx="3810000" cy="600164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IN" sz="2900" b="1">
                <a:solidFill>
                  <a:srgbClr val="F8FAFC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FE225-573A-23CC-A7AA-E6F34274BD72}"/>
              </a:ext>
            </a:extLst>
          </p:cNvPr>
          <p:cNvSpPr txBox="1"/>
          <p:nvPr/>
        </p:nvSpPr>
        <p:spPr>
          <a:xfrm>
            <a:off x="685800" y="1905000"/>
            <a:ext cx="3810000" cy="707886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>
                <a:solidFill>
                  <a:srgbClr val="22D3EE"/>
                </a:solidFill>
                <a:latin typeface="Aptos" panose="020B0004020202020204" pitchFamily="34" charset="0"/>
              </a:rPr>
              <a:t>A foundation for an enterprise AI control plane.</a:t>
            </a:r>
            <a:endParaRPr lang="en-IN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A3204-321C-CDF4-85EB-8E0C37168E78}"/>
              </a:ext>
            </a:extLst>
          </p:cNvPr>
          <p:cNvSpPr txBox="1"/>
          <p:nvPr/>
        </p:nvSpPr>
        <p:spPr>
          <a:xfrm>
            <a:off x="685800" y="3175000"/>
            <a:ext cx="3810000" cy="1538883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Aptos" panose="020B0004020202020204" pitchFamily="34" charset="0"/>
              </a:rPr>
              <a:t>The hackathon build uses deterministic local demo adapters. In production, the same orchestration pattern can connect to real providers, billing telemetry, quality feedback, approval workflows, and enterprise policy controls.</a:t>
            </a:r>
            <a:endParaRPr lang="en-IN" sz="15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AF1012-FDB7-4A86-1F43-A52225140E72}"/>
              </a:ext>
            </a:extLst>
          </p:cNvPr>
          <p:cNvSpPr/>
          <p:nvPr/>
        </p:nvSpPr>
        <p:spPr>
          <a:xfrm>
            <a:off x="5334000" y="4851400"/>
            <a:ext cx="6350000" cy="762000"/>
          </a:xfrm>
          <a:prstGeom prst="rect">
            <a:avLst/>
          </a:prstGeom>
          <a:solidFill>
            <a:srgbClr val="0F172A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AA7B2-E8F7-52F4-4009-855FDBEED8DD}"/>
              </a:ext>
            </a:extLst>
          </p:cNvPr>
          <p:cNvSpPr txBox="1"/>
          <p:nvPr/>
        </p:nvSpPr>
        <p:spPr>
          <a:xfrm>
            <a:off x="5562600" y="5054600"/>
            <a:ext cx="5892800" cy="523220"/>
          </a:xfrm>
          <a:prstGeom prst="rect">
            <a:avLst/>
          </a:prstGeom>
          <a:noFill/>
        </p:spPr>
        <p:txBody>
          <a:bodyPr vert="horz" wrap="square" lIns="127000" tIns="76200" rIns="127000" bIns="76200" rtlCol="0">
            <a:spAutoFit/>
          </a:bodyPr>
          <a:lstStyle/>
          <a:p>
            <a:r>
              <a:rPr lang="en-US" sz="1200">
                <a:solidFill>
                  <a:srgbClr val="22D3EE"/>
                </a:solidFill>
                <a:latin typeface="Aptos" panose="020B0004020202020204" pitchFamily="34" charset="0"/>
              </a:rPr>
              <a:t>Adaptive routing helps scale AI adoption with cost, quality, and governance under control</a:t>
            </a:r>
            <a:endParaRPr lang="en-IN" sz="1200">
              <a:solidFill>
                <a:srgbClr val="22D3E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overview-slide-6">
            <a:hlinkClick r:id="" action="ppaction://media"/>
            <a:extLst>
              <a:ext uri="{FF2B5EF4-FFF2-40B4-BE49-F238E27FC236}">
                <a16:creationId xmlns:a16="http://schemas.microsoft.com/office/drawing/2014/main" id="{D5EDE814-4A3E-DE38-C249-6AA6E887A3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8600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64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000"/>
    </mc:Choice>
    <mc:Fallback>
      <p:transition spd="slow" advTm="2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63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Custom</PresentationFormat>
  <Paragraphs>32</Paragraphs>
  <Slides>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 ram</dc:creator>
  <cp:lastModifiedBy>siv ram</cp:lastModifiedBy>
  <cp:revision>1</cp:revision>
  <dcterms:created xsi:type="dcterms:W3CDTF">2026-07-09T10:26:14Z</dcterms:created>
  <dcterms:modified xsi:type="dcterms:W3CDTF">2026-07-09T10:26:14Z</dcterms:modified>
</cp:coreProperties>
</file>