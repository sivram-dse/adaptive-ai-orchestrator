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680C3-6E58-F1DF-A4C2-0711723F9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F6869-EFF2-D15E-1389-B6674967B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AA1A9-6C01-DFD2-9354-C3F2D1F0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A45FF-64B2-6BC9-F9A9-1C852B62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655AD-F667-BB7C-0DB2-F3493710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3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21F3-7DA4-6D73-3F1F-E4524AC9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496A1-6A6D-A8B1-E103-AF1503DF2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523FF-C65E-18A1-7C65-06514536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3A6CE-8E56-FFF3-5DD9-F18C7133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885AF-3886-8D72-8220-936A0F12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80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B45E-BB12-1F50-B9BA-5033315E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E1494-3464-BA76-B6AE-5D5534DC0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B41D8-D942-647D-9857-FDEAF953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0120E-D128-B82A-7E7E-1DEA5513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551E9-F456-E986-348E-8EF02744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49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20E9-FEA8-077E-97B3-1EAE157E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1385E-1375-61CA-A41B-312751F84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A1C73-6133-6500-1F66-1B8590033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4BFF8-CFB1-A561-1F66-2691261F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FEC3C-15C5-C51B-FA3B-BF9B4B39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061D6-DB92-72AC-95B5-626B0BD8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04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83C6-115F-C6BC-F0D9-5380C1F1E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AFBA9-29B9-58DC-B421-7202EB997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6FE34-A35C-4838-0B7B-42D4345CC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ED05D-F948-6EF9-33D5-0BAF847B3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422FB-420E-890C-83DD-AE53477A0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FE9C4-1F2D-6589-EFE6-8A494D8C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D0AA4-50A5-E340-2F60-298DF914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76A61-BE45-A86C-39F9-1C52C20D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11A8-62EA-CF60-9F59-104A9468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54171-6A76-B258-645B-B6668A9F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C94C1-9B80-1AA9-AE54-B0C7F868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44B49-553F-4602-FAF6-BE4F77BD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9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77A08-3BA9-3B7E-00B2-60C02F30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A1373-7685-03A9-3228-6D0F3562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43E31-59DC-A429-8722-036E6219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7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E8E2-DF61-F3F9-50BD-FDEB2213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8AA8-6509-E0F3-5EF8-F6ADCCCF2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15296-F578-836B-CD07-D4BC34C34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9F591-B6CE-22DB-DBB7-D1B30F42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3F0D7-F508-6B03-5B9B-7CB5E2183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D3F2C-5661-B756-F5CA-828441D34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22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68F9-D6A8-98C2-7D40-68D2356D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8DB8B-70C4-C4A3-D512-15D83AD78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444FE-A4D8-C516-1EB1-9FC1C1E10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B9FEF-0005-6DFD-2F9A-D92D8322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12DBB-042F-0A03-3879-287E3F47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9EC34-C97F-CE71-3D90-14F54CE2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54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B81A-C19D-6827-833F-27945E0F6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92928-F48C-46F9-DE4A-329602D34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17F28-B8ED-BC50-398D-4050F47E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2155C-65B3-1C83-752F-FAF9D757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B9433-A56C-632C-2B74-2660998D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2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2D0D7-F8D4-256A-8361-CDAC335B9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E58BA-8AB5-CB86-3A1B-A020FD308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23530-9D4B-36C3-CC9B-DFDDA7BE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7ED0-DA21-581A-4F48-23A9A213A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4B44E-5F7F-CA71-01FC-BA41E67E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5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5E7EF-CD74-9F8C-9C73-E393B2998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52F94-B44C-6CFF-5BFB-D3F6AF2C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67D6-850B-5954-4ECA-2EB8E5883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BF961-AD8B-4770-9856-9D2943AED50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10556-E572-963B-F93B-220B7F3BB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9BFFD-A7C6-D7B4-7C46-133FDF7DD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985E5-FF4D-469C-947E-1E3B41E86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646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4DE324-BE2C-439F-45AA-DAFB7AB6305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635000"/>
            <a:ext cx="6604000" cy="36830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F32EB5-6B41-438C-DE54-8373C84D7DFD}"/>
              </a:ext>
            </a:extLst>
          </p:cNvPr>
          <p:cNvSpPr/>
          <p:nvPr/>
        </p:nvSpPr>
        <p:spPr>
          <a:xfrm>
            <a:off x="457200" y="635000"/>
            <a:ext cx="4216400" cy="52070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014CD-2DA7-263D-C916-0BD1DB487741}"/>
              </a:ext>
            </a:extLst>
          </p:cNvPr>
          <p:cNvSpPr txBox="1"/>
          <p:nvPr/>
        </p:nvSpPr>
        <p:spPr>
          <a:xfrm>
            <a:off x="635000" y="8382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700" b="1">
                <a:solidFill>
                  <a:srgbClr val="F8FAFC"/>
                </a:solidFill>
                <a:latin typeface="Aptos" panose="020B0004020202020204" pitchFamily="34" charset="0"/>
              </a:rPr>
              <a:t>Adaptive AI Orchestrator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2C6A0-82D5-EA1C-75EB-DE83067DCF8B}"/>
              </a:ext>
            </a:extLst>
          </p:cNvPr>
          <p:cNvSpPr txBox="1"/>
          <p:nvPr/>
        </p:nvSpPr>
        <p:spPr>
          <a:xfrm>
            <a:off x="635000" y="2463800"/>
            <a:ext cx="3708400" cy="7078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Cost-aware routing for enterprise AI workloads.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8E83D9-F08F-DC14-0B64-FABB47F51079}"/>
              </a:ext>
            </a:extLst>
          </p:cNvPr>
          <p:cNvSpPr txBox="1"/>
          <p:nvPr/>
        </p:nvSpPr>
        <p:spPr>
          <a:xfrm>
            <a:off x="635000" y="3886200"/>
            <a:ext cx="3708400" cy="1077218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The platform selects the cheapest acceptable execution path while preserving confidence, speed, and governance.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78BA2-4CEE-1A83-4FEC-21A398AB5227}"/>
              </a:ext>
            </a:extLst>
          </p:cNvPr>
          <p:cNvSpPr/>
          <p:nvPr/>
        </p:nvSpPr>
        <p:spPr>
          <a:xfrm>
            <a:off x="5080000" y="4699000"/>
            <a:ext cx="6604000" cy="8382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C6976-FBBD-8187-B4F3-26EE157C6CC5}"/>
              </a:ext>
            </a:extLst>
          </p:cNvPr>
          <p:cNvSpPr txBox="1"/>
          <p:nvPr/>
        </p:nvSpPr>
        <p:spPr>
          <a:xfrm>
            <a:off x="5308600" y="4927600"/>
            <a:ext cx="6096000" cy="369332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400">
                <a:solidFill>
                  <a:srgbClr val="22D3EE"/>
                </a:solidFill>
                <a:latin typeface="Aptos" panose="020B0004020202020204" pitchFamily="34" charset="0"/>
              </a:rPr>
              <a:t>Explainable route selection with cost, latency, confidence, and rationale</a:t>
            </a:r>
            <a:endParaRPr lang="en-IN" sz="14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slide-1">
            <a:hlinkClick r:id="" action="ppaction://media"/>
            <a:extLst>
              <a:ext uri="{FF2B5EF4-FFF2-40B4-BE49-F238E27FC236}">
                <a16:creationId xmlns:a16="http://schemas.microsoft.com/office/drawing/2014/main" id="{E8DFC5CC-95FE-2A8C-702B-9B1AFF050D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32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00"/>
    </mc:Choice>
    <mc:Fallback>
      <p:transition spd="slow" advTm="2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58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D3C2A-1668-C7DA-C0BF-07DBEF1C7ED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635000"/>
            <a:ext cx="6604000" cy="36830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23E0A8-ECCB-7758-634E-D367E6392956}"/>
              </a:ext>
            </a:extLst>
          </p:cNvPr>
          <p:cNvSpPr/>
          <p:nvPr/>
        </p:nvSpPr>
        <p:spPr>
          <a:xfrm>
            <a:off x="457200" y="635000"/>
            <a:ext cx="4216400" cy="52070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A4224-8317-557A-27E5-CAFF61D01B53}"/>
              </a:ext>
            </a:extLst>
          </p:cNvPr>
          <p:cNvSpPr txBox="1"/>
          <p:nvPr/>
        </p:nvSpPr>
        <p:spPr>
          <a:xfrm>
            <a:off x="635000" y="8382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" panose="020B0004020202020204" pitchFamily="34" charset="0"/>
              </a:rPr>
              <a:t>Right-sized routing for every task</a:t>
            </a:r>
            <a:endParaRPr lang="en-IN" sz="2700" b="1">
              <a:solidFill>
                <a:srgbClr val="F8FAFC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6A2F8-EF93-5F32-EC93-00CAB5EC594B}"/>
              </a:ext>
            </a:extLst>
          </p:cNvPr>
          <p:cNvSpPr txBox="1"/>
          <p:nvPr/>
        </p:nvSpPr>
        <p:spPr>
          <a:xfrm>
            <a:off x="635000" y="24638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Code, skills, LLMs, agents, and multi-agent workflows are all available.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AA555E-8258-2437-9C4E-9F1D15193E08}"/>
              </a:ext>
            </a:extLst>
          </p:cNvPr>
          <p:cNvSpPr txBox="1"/>
          <p:nvPr/>
        </p:nvSpPr>
        <p:spPr>
          <a:xfrm>
            <a:off x="635000" y="3886200"/>
            <a:ext cx="3708400" cy="8463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The decision engine evaluates complexity, reasoning depth, context, cost, latency, and confidence before selecting a route.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F706FB-54D5-A64E-AA10-DC34FB2358FE}"/>
              </a:ext>
            </a:extLst>
          </p:cNvPr>
          <p:cNvSpPr/>
          <p:nvPr/>
        </p:nvSpPr>
        <p:spPr>
          <a:xfrm>
            <a:off x="5080000" y="4699000"/>
            <a:ext cx="6604000" cy="8382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62E80-E8F7-F9B2-87C0-E79105357DAE}"/>
              </a:ext>
            </a:extLst>
          </p:cNvPr>
          <p:cNvSpPr txBox="1"/>
          <p:nvPr/>
        </p:nvSpPr>
        <p:spPr>
          <a:xfrm>
            <a:off x="5308600" y="4927600"/>
            <a:ext cx="6096000" cy="369332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400">
                <a:solidFill>
                  <a:srgbClr val="22D3EE"/>
                </a:solidFill>
                <a:latin typeface="Aptos" panose="020B0004020202020204" pitchFamily="34" charset="0"/>
              </a:rPr>
              <a:t>Explainable route selection with cost, latency, confidence, and rationale</a:t>
            </a:r>
            <a:endParaRPr lang="en-IN" sz="14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slide-2">
            <a:hlinkClick r:id="" action="ppaction://media"/>
            <a:extLst>
              <a:ext uri="{FF2B5EF4-FFF2-40B4-BE49-F238E27FC236}">
                <a16:creationId xmlns:a16="http://schemas.microsoft.com/office/drawing/2014/main" id="{1046FB25-12B1-1F85-114A-8F4EF40497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98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00"/>
    </mc:Choice>
    <mc:Fallback>
      <p:transition spd="slow" advTm="2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67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FCDBFB-D25A-C51A-9EC5-37BA422E612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635000"/>
            <a:ext cx="6604000" cy="36830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EE240E-9D67-1C76-8D5C-C75859DC3616}"/>
              </a:ext>
            </a:extLst>
          </p:cNvPr>
          <p:cNvSpPr/>
          <p:nvPr/>
        </p:nvSpPr>
        <p:spPr>
          <a:xfrm>
            <a:off x="457200" y="635000"/>
            <a:ext cx="4216400" cy="52070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5EF51-C06D-F49F-7BFF-46FE5FD79292}"/>
              </a:ext>
            </a:extLst>
          </p:cNvPr>
          <p:cNvSpPr txBox="1"/>
          <p:nvPr/>
        </p:nvSpPr>
        <p:spPr>
          <a:xfrm>
            <a:off x="635000" y="8382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" panose="020B0004020202020204" pitchFamily="34" charset="0"/>
              </a:rPr>
              <a:t>ROI evidence from repeated trials</a:t>
            </a:r>
            <a:endParaRPr lang="en-IN" sz="2700" b="1">
              <a:solidFill>
                <a:srgbClr val="F8FAFC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2B7291-8F21-7BD1-786A-07E427464AF4}"/>
              </a:ext>
            </a:extLst>
          </p:cNvPr>
          <p:cNvSpPr txBox="1"/>
          <p:nvPr/>
        </p:nvSpPr>
        <p:spPr>
          <a:xfrm>
            <a:off x="635000" y="2463800"/>
            <a:ext cx="3708400" cy="7078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35.3 percent lower execution cost and 25.1 percent lower latency.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9E62B-24C6-3587-72CD-F5BCDA98998E}"/>
              </a:ext>
            </a:extLst>
          </p:cNvPr>
          <p:cNvSpPr txBox="1"/>
          <p:nvPr/>
        </p:nvSpPr>
        <p:spPr>
          <a:xfrm>
            <a:off x="635000" y="3886200"/>
            <a:ext cx="3708400" cy="1077218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Average cost dropped from $0.1800 to $0.1164 per request while maintaining 100 percent success in the controlled demo.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20D24-4F0A-4A5B-602C-3BC8BA740D6B}"/>
              </a:ext>
            </a:extLst>
          </p:cNvPr>
          <p:cNvSpPr/>
          <p:nvPr/>
        </p:nvSpPr>
        <p:spPr>
          <a:xfrm>
            <a:off x="5080000" y="4699000"/>
            <a:ext cx="6604000" cy="8382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BFFD4-F45C-F261-EEF4-298F7497E3DC}"/>
              </a:ext>
            </a:extLst>
          </p:cNvPr>
          <p:cNvSpPr txBox="1"/>
          <p:nvPr/>
        </p:nvSpPr>
        <p:spPr>
          <a:xfrm>
            <a:off x="5308600" y="4927600"/>
            <a:ext cx="6096000" cy="369332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400">
                <a:solidFill>
                  <a:srgbClr val="22D3EE"/>
                </a:solidFill>
                <a:latin typeface="Aptos" panose="020B0004020202020204" pitchFamily="34" charset="0"/>
              </a:rPr>
              <a:t>Explainable route selection with cost, latency, confidence, and rationale</a:t>
            </a:r>
            <a:endParaRPr lang="en-IN" sz="14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slide-3">
            <a:hlinkClick r:id="" action="ppaction://media"/>
            <a:extLst>
              <a:ext uri="{FF2B5EF4-FFF2-40B4-BE49-F238E27FC236}">
                <a16:creationId xmlns:a16="http://schemas.microsoft.com/office/drawing/2014/main" id="{270F4B93-2277-3D17-6EDC-BCF59E5D6E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94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00"/>
    </mc:Choice>
    <mc:Fallback>
      <p:transition spd="slow" advTm="2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6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14366-BC6B-B713-092A-7F7D002B8BF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635000"/>
            <a:ext cx="6604000" cy="36830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58333C-A389-C568-5BA5-E6D1656B1AE3}"/>
              </a:ext>
            </a:extLst>
          </p:cNvPr>
          <p:cNvSpPr/>
          <p:nvPr/>
        </p:nvSpPr>
        <p:spPr>
          <a:xfrm>
            <a:off x="457200" y="635000"/>
            <a:ext cx="4216400" cy="52070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FC55F-D86C-5BD8-BBDE-122EB52D7803}"/>
              </a:ext>
            </a:extLst>
          </p:cNvPr>
          <p:cNvSpPr txBox="1"/>
          <p:nvPr/>
        </p:nvSpPr>
        <p:spPr>
          <a:xfrm>
            <a:off x="635000" y="8382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700" b="1">
                <a:solidFill>
                  <a:srgbClr val="F8FAFC"/>
                </a:solidFill>
                <a:latin typeface="Aptos" panose="020B0004020202020204" pitchFamily="34" charset="0"/>
              </a:rPr>
              <a:t>Live decisions are explainable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555D9-D673-D37F-2777-4CE02717BAAA}"/>
              </a:ext>
            </a:extLst>
          </p:cNvPr>
          <p:cNvSpPr txBox="1"/>
          <p:nvPr/>
        </p:nvSpPr>
        <p:spPr>
          <a:xfrm>
            <a:off x="635000" y="24638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Every response includes route, confidence, cost, latency, and rationale.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63082-0D30-4990-8D5E-C63D091C2037}"/>
              </a:ext>
            </a:extLst>
          </p:cNvPr>
          <p:cNvSpPr txBox="1"/>
          <p:nvPr/>
        </p:nvSpPr>
        <p:spPr>
          <a:xfrm>
            <a:off x="635000" y="3886200"/>
            <a:ext cx="3708400" cy="8463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This is important for enterprise governance: decisions are auditable, not hidden inside a black box.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AAE369-7550-4817-7B51-5C7786EBF11C}"/>
              </a:ext>
            </a:extLst>
          </p:cNvPr>
          <p:cNvSpPr/>
          <p:nvPr/>
        </p:nvSpPr>
        <p:spPr>
          <a:xfrm>
            <a:off x="5080000" y="4699000"/>
            <a:ext cx="6604000" cy="8382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99E8D9-EFC9-4187-5598-07D107EEDFDF}"/>
              </a:ext>
            </a:extLst>
          </p:cNvPr>
          <p:cNvSpPr txBox="1"/>
          <p:nvPr/>
        </p:nvSpPr>
        <p:spPr>
          <a:xfrm>
            <a:off x="5308600" y="4927600"/>
            <a:ext cx="6096000" cy="369332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400">
                <a:solidFill>
                  <a:srgbClr val="22D3EE"/>
                </a:solidFill>
                <a:latin typeface="Aptos" panose="020B0004020202020204" pitchFamily="34" charset="0"/>
              </a:rPr>
              <a:t>Explainable route selection with cost, latency, confidence, and rationale</a:t>
            </a:r>
            <a:endParaRPr lang="en-IN" sz="14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slide-4">
            <a:hlinkClick r:id="" action="ppaction://media"/>
            <a:extLst>
              <a:ext uri="{FF2B5EF4-FFF2-40B4-BE49-F238E27FC236}">
                <a16:creationId xmlns:a16="http://schemas.microsoft.com/office/drawing/2014/main" id="{BDA7F1AE-590B-A90F-47C0-29B896CCCC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4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00"/>
    </mc:Choice>
    <mc:Fallback>
      <p:transition spd="slow" advTm="2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60791-CA0A-EE70-EA10-A6B33CA4617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635000"/>
            <a:ext cx="6604000" cy="36830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ABB5EF-2015-0957-1511-BECB0D99B98B}"/>
              </a:ext>
            </a:extLst>
          </p:cNvPr>
          <p:cNvSpPr/>
          <p:nvPr/>
        </p:nvSpPr>
        <p:spPr>
          <a:xfrm>
            <a:off x="457200" y="635000"/>
            <a:ext cx="4216400" cy="52070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10A0A-85ED-B33F-4EF6-3233AE5961FD}"/>
              </a:ext>
            </a:extLst>
          </p:cNvPr>
          <p:cNvSpPr txBox="1"/>
          <p:nvPr/>
        </p:nvSpPr>
        <p:spPr>
          <a:xfrm>
            <a:off x="635000" y="8382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700" b="1">
                <a:solidFill>
                  <a:srgbClr val="F8FAFC"/>
                </a:solidFill>
                <a:latin typeface="Aptos" panose="020B0004020202020204" pitchFamily="34" charset="0"/>
              </a:rPr>
              <a:t>Benchmarks show selective escalation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38BE9-E941-C133-C15F-8F5DC33C39BE}"/>
              </a:ext>
            </a:extLst>
          </p:cNvPr>
          <p:cNvSpPr txBox="1"/>
          <p:nvPr/>
        </p:nvSpPr>
        <p:spPr>
          <a:xfrm>
            <a:off x="635000" y="24638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Simple work avoids agents; complex work still escalates when needed.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8ADCA-FB2B-116B-B795-F38BDEAD50DD}"/>
              </a:ext>
            </a:extLst>
          </p:cNvPr>
          <p:cNvSpPr txBox="1"/>
          <p:nvPr/>
        </p:nvSpPr>
        <p:spPr>
          <a:xfrm>
            <a:off x="635000" y="3886200"/>
            <a:ext cx="3708400" cy="1077218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JSON validation and email drafting are routed cheaply. Travel and enterprise migration planning still use agentic paths for quality.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689808-60F6-BF3E-11BD-238EA6631929}"/>
              </a:ext>
            </a:extLst>
          </p:cNvPr>
          <p:cNvSpPr/>
          <p:nvPr/>
        </p:nvSpPr>
        <p:spPr>
          <a:xfrm>
            <a:off x="5080000" y="4699000"/>
            <a:ext cx="6604000" cy="8382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2A655-22C2-7684-1551-71ED15D4A852}"/>
              </a:ext>
            </a:extLst>
          </p:cNvPr>
          <p:cNvSpPr txBox="1"/>
          <p:nvPr/>
        </p:nvSpPr>
        <p:spPr>
          <a:xfrm>
            <a:off x="5308600" y="4927600"/>
            <a:ext cx="6096000" cy="369332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400">
                <a:solidFill>
                  <a:srgbClr val="22D3EE"/>
                </a:solidFill>
                <a:latin typeface="Aptos" panose="020B0004020202020204" pitchFamily="34" charset="0"/>
              </a:rPr>
              <a:t>Explainable route selection with cost, latency, confidence, and rationale</a:t>
            </a:r>
            <a:endParaRPr lang="en-IN" sz="14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slide-5">
            <a:hlinkClick r:id="" action="ppaction://media"/>
            <a:extLst>
              <a:ext uri="{FF2B5EF4-FFF2-40B4-BE49-F238E27FC236}">
                <a16:creationId xmlns:a16="http://schemas.microsoft.com/office/drawing/2014/main" id="{919310C3-4FB0-449B-C90D-F0A8DFCC78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47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00"/>
    </mc:Choice>
    <mc:Fallback>
      <p:transition spd="slow" advTm="2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98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3D843E-DADD-2537-6FB1-A4943A775E9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635000"/>
            <a:ext cx="6604000" cy="36830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385C8F-DA07-9AAE-0D9A-B8903DC80E6C}"/>
              </a:ext>
            </a:extLst>
          </p:cNvPr>
          <p:cNvSpPr/>
          <p:nvPr/>
        </p:nvSpPr>
        <p:spPr>
          <a:xfrm>
            <a:off x="457200" y="635000"/>
            <a:ext cx="4216400" cy="52070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0C8D3-35B8-C40C-7B40-2FECF2CC30AF}"/>
              </a:ext>
            </a:extLst>
          </p:cNvPr>
          <p:cNvSpPr txBox="1"/>
          <p:nvPr/>
        </p:nvSpPr>
        <p:spPr>
          <a:xfrm>
            <a:off x="635000" y="8382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" panose="020B0004020202020204" pitchFamily="34" charset="0"/>
              </a:rPr>
              <a:t>Business value scales with volume</a:t>
            </a:r>
            <a:endParaRPr lang="en-IN" sz="2700" b="1">
              <a:solidFill>
                <a:srgbClr val="F8FAFC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374B3-0893-0A95-B230-CF7F507026BF}"/>
              </a:ext>
            </a:extLst>
          </p:cNvPr>
          <p:cNvSpPr txBox="1"/>
          <p:nvPr/>
        </p:nvSpPr>
        <p:spPr>
          <a:xfrm>
            <a:off x="635000" y="2463800"/>
            <a:ext cx="3708400" cy="98488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Projected at one million similar requests: $63.6K saved and 300 response-time hours avoided.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4BF70-E100-981B-8F61-3141887AE61A}"/>
              </a:ext>
            </a:extLst>
          </p:cNvPr>
          <p:cNvSpPr txBox="1"/>
          <p:nvPr/>
        </p:nvSpPr>
        <p:spPr>
          <a:xfrm>
            <a:off x="635000" y="3886200"/>
            <a:ext cx="3708400" cy="8463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Production validation can connect this framework to real provider billing, latency, quality scores, and business outcomes.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D1E273-F21F-8E80-B5ED-13A0B95D4D1E}"/>
              </a:ext>
            </a:extLst>
          </p:cNvPr>
          <p:cNvSpPr/>
          <p:nvPr/>
        </p:nvSpPr>
        <p:spPr>
          <a:xfrm>
            <a:off x="5080000" y="4699000"/>
            <a:ext cx="6604000" cy="8382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AA790-87C7-A338-0286-661D32F50A8E}"/>
              </a:ext>
            </a:extLst>
          </p:cNvPr>
          <p:cNvSpPr txBox="1"/>
          <p:nvPr/>
        </p:nvSpPr>
        <p:spPr>
          <a:xfrm>
            <a:off x="5308600" y="4927600"/>
            <a:ext cx="6096000" cy="369332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400">
                <a:solidFill>
                  <a:srgbClr val="22D3EE"/>
                </a:solidFill>
                <a:latin typeface="Aptos" panose="020B0004020202020204" pitchFamily="34" charset="0"/>
              </a:rPr>
              <a:t>Explainable route selection with cost, latency, confidence, and rationale</a:t>
            </a:r>
            <a:endParaRPr lang="en-IN" sz="14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slide-6">
            <a:hlinkClick r:id="" action="ppaction://media"/>
            <a:extLst>
              <a:ext uri="{FF2B5EF4-FFF2-40B4-BE49-F238E27FC236}">
                <a16:creationId xmlns:a16="http://schemas.microsoft.com/office/drawing/2014/main" id="{17867FD1-0339-652C-1A09-97D775CC5A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4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000"/>
    </mc:Choice>
    <mc:Fallback>
      <p:transition spd="slow" advTm="2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5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Custom</PresentationFormat>
  <Paragraphs>24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 ram</dc:creator>
  <cp:lastModifiedBy>siv ram</cp:lastModifiedBy>
  <cp:revision>1</cp:revision>
  <dcterms:created xsi:type="dcterms:W3CDTF">2026-07-09T07:37:00Z</dcterms:created>
  <dcterms:modified xsi:type="dcterms:W3CDTF">2026-07-09T07:37:01Z</dcterms:modified>
</cp:coreProperties>
</file>